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57" r:id="rId5"/>
  </p:sldMasterIdLst>
  <p:notesMasterIdLst>
    <p:notesMasterId r:id="rId19"/>
  </p:notesMasterIdLst>
  <p:handoutMasterIdLst>
    <p:handoutMasterId r:id="rId20"/>
  </p:handoutMasterIdLst>
  <p:sldIdLst>
    <p:sldId id="331" r:id="rId6"/>
    <p:sldId id="348" r:id="rId7"/>
    <p:sldId id="350" r:id="rId8"/>
    <p:sldId id="351" r:id="rId9"/>
    <p:sldId id="352" r:id="rId10"/>
    <p:sldId id="349" r:id="rId11"/>
    <p:sldId id="353" r:id="rId12"/>
    <p:sldId id="354" r:id="rId13"/>
    <p:sldId id="355" r:id="rId14"/>
    <p:sldId id="356" r:id="rId15"/>
    <p:sldId id="357" r:id="rId16"/>
    <p:sldId id="347" r:id="rId17"/>
    <p:sldId id="268" r:id="rId1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-150" normalizeH="0" baseline="0">
        <a:ln>
          <a:noFill/>
        </a:ln>
        <a:solidFill>
          <a:srgbClr val="535353"/>
        </a:solidFill>
        <a:effectLst/>
        <a:uFillTx/>
        <a:latin typeface="Open Sans Light"/>
        <a:ea typeface="Open Sans Light"/>
        <a:cs typeface="Open Sans Light"/>
        <a:sym typeface="Open Sans Light"/>
      </a:defRPr>
    </a:lvl1pPr>
    <a:lvl2pPr marL="0" marR="0" indent="45720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-150" normalizeH="0" baseline="0">
        <a:ln>
          <a:noFill/>
        </a:ln>
        <a:solidFill>
          <a:srgbClr val="535353"/>
        </a:solidFill>
        <a:effectLst/>
        <a:uFillTx/>
        <a:latin typeface="Open Sans Light"/>
        <a:ea typeface="Open Sans Light"/>
        <a:cs typeface="Open Sans Light"/>
        <a:sym typeface="Open Sans Light"/>
      </a:defRPr>
    </a:lvl2pPr>
    <a:lvl3pPr marL="0" marR="0" indent="91440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-150" normalizeH="0" baseline="0">
        <a:ln>
          <a:noFill/>
        </a:ln>
        <a:solidFill>
          <a:srgbClr val="535353"/>
        </a:solidFill>
        <a:effectLst/>
        <a:uFillTx/>
        <a:latin typeface="Open Sans Light"/>
        <a:ea typeface="Open Sans Light"/>
        <a:cs typeface="Open Sans Light"/>
        <a:sym typeface="Open Sans Light"/>
      </a:defRPr>
    </a:lvl3pPr>
    <a:lvl4pPr marL="0" marR="0" indent="137160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-150" normalizeH="0" baseline="0">
        <a:ln>
          <a:noFill/>
        </a:ln>
        <a:solidFill>
          <a:srgbClr val="535353"/>
        </a:solidFill>
        <a:effectLst/>
        <a:uFillTx/>
        <a:latin typeface="Open Sans Light"/>
        <a:ea typeface="Open Sans Light"/>
        <a:cs typeface="Open Sans Light"/>
        <a:sym typeface="Open Sans Light"/>
      </a:defRPr>
    </a:lvl4pPr>
    <a:lvl5pPr marL="0" marR="0" indent="182880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-150" normalizeH="0" baseline="0">
        <a:ln>
          <a:noFill/>
        </a:ln>
        <a:solidFill>
          <a:srgbClr val="535353"/>
        </a:solidFill>
        <a:effectLst/>
        <a:uFillTx/>
        <a:latin typeface="Open Sans Light"/>
        <a:ea typeface="Open Sans Light"/>
        <a:cs typeface="Open Sans Light"/>
        <a:sym typeface="Open Sans Light"/>
      </a:defRPr>
    </a:lvl5pPr>
    <a:lvl6pPr marL="0" marR="0" indent="228600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-150" normalizeH="0" baseline="0">
        <a:ln>
          <a:noFill/>
        </a:ln>
        <a:solidFill>
          <a:srgbClr val="535353"/>
        </a:solidFill>
        <a:effectLst/>
        <a:uFillTx/>
        <a:latin typeface="Open Sans Light"/>
        <a:ea typeface="Open Sans Light"/>
        <a:cs typeface="Open Sans Light"/>
        <a:sym typeface="Open Sans Light"/>
      </a:defRPr>
    </a:lvl6pPr>
    <a:lvl7pPr marL="0" marR="0" indent="274320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-150" normalizeH="0" baseline="0">
        <a:ln>
          <a:noFill/>
        </a:ln>
        <a:solidFill>
          <a:srgbClr val="535353"/>
        </a:solidFill>
        <a:effectLst/>
        <a:uFillTx/>
        <a:latin typeface="Open Sans Light"/>
        <a:ea typeface="Open Sans Light"/>
        <a:cs typeface="Open Sans Light"/>
        <a:sym typeface="Open Sans Light"/>
      </a:defRPr>
    </a:lvl7pPr>
    <a:lvl8pPr marL="0" marR="0" indent="320040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-150" normalizeH="0" baseline="0">
        <a:ln>
          <a:noFill/>
        </a:ln>
        <a:solidFill>
          <a:srgbClr val="535353"/>
        </a:solidFill>
        <a:effectLst/>
        <a:uFillTx/>
        <a:latin typeface="Open Sans Light"/>
        <a:ea typeface="Open Sans Light"/>
        <a:cs typeface="Open Sans Light"/>
        <a:sym typeface="Open Sans Light"/>
      </a:defRPr>
    </a:lvl8pPr>
    <a:lvl9pPr marL="0" marR="0" indent="365760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-150" normalizeH="0" baseline="0">
        <a:ln>
          <a:noFill/>
        </a:ln>
        <a:solidFill>
          <a:srgbClr val="535353"/>
        </a:solidFill>
        <a:effectLst/>
        <a:uFillTx/>
        <a:latin typeface="Open Sans Light"/>
        <a:ea typeface="Open Sans Light"/>
        <a:cs typeface="Open Sans Light"/>
        <a:sym typeface="Open Sans Light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therine Díaz Olivos" initials="CDO" lastIdx="8" clrIdx="0">
    <p:extLst>
      <p:ext uri="{19B8F6BF-5375-455C-9EA6-DF929625EA0E}">
        <p15:presenceInfo xmlns:p15="http://schemas.microsoft.com/office/powerpoint/2012/main" userId="S-1-5-21-1538672992-175319928-926709054-182580" providerId="AD"/>
      </p:ext>
    </p:extLst>
  </p:cmAuthor>
  <p:cmAuthor id="2" name="Karoll Labrín Bórquez" initials="KLB" lastIdx="1" clrIdx="1">
    <p:extLst>
      <p:ext uri="{19B8F6BF-5375-455C-9EA6-DF929625EA0E}">
        <p15:presenceInfo xmlns:p15="http://schemas.microsoft.com/office/powerpoint/2012/main" userId="S-1-5-21-1538672992-175319928-926709054-19422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80000"/>
    <a:srgbClr val="777777"/>
    <a:srgbClr val="E80E0E"/>
    <a:srgbClr val="CC0000"/>
    <a:srgbClr val="F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8EF2FD-9440-4348-B266-D1702CBF2811}" v="5" dt="2025-12-05T23:48:25.686"/>
  </p1510:revLst>
</p1510:revInfo>
</file>

<file path=ppt/tableStyles.xml><?xml version="1.0" encoding="utf-8"?>
<a:tblStyleLst xmlns:a="http://schemas.openxmlformats.org/drawingml/2006/main" def="{5940675A-B579-460E-94D1-54222C63F5DA}">
  <a:tblStyle styleId="{8F44A2F1-9E1F-4B54-A3A2-5F16C0AD49E2}" styleName="">
    <a:tblBg/>
    <a:wholeTbl>
      <a:tcTxStyle b="off" i="off">
        <a:font>
          <a:latin typeface="Open Sans Light"/>
          <a:ea typeface="Open Sans Light"/>
          <a:cs typeface="Open Sans Light"/>
        </a:font>
        <a:srgbClr val="000000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BEBEB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762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762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F2427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6" d="100"/>
          <a:sy n="56" d="100"/>
        </p:scale>
        <p:origin x="285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C8FCBC-C477-4D6D-828A-7941D2A76A08}" type="datetimeFigureOut">
              <a:rPr lang="es-CL" smtClean="0"/>
              <a:t>05-12-2025</a:t>
            </a:fld>
            <a:endParaRPr lang="es-C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51E7FB-0083-49AB-B567-A46CBFCFAB1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469463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8" name="Shape 14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1828800" latinLnBrk="0">
      <a:defRPr sz="2400">
        <a:latin typeface="+mn-lt"/>
        <a:ea typeface="+mn-ea"/>
        <a:cs typeface="+mn-cs"/>
        <a:sym typeface="Open Sans"/>
      </a:defRPr>
    </a:lvl1pPr>
    <a:lvl2pPr indent="228600" defTabSz="1828800" latinLnBrk="0">
      <a:defRPr sz="2400">
        <a:latin typeface="+mn-lt"/>
        <a:ea typeface="+mn-ea"/>
        <a:cs typeface="+mn-cs"/>
        <a:sym typeface="Open Sans"/>
      </a:defRPr>
    </a:lvl2pPr>
    <a:lvl3pPr indent="457200" defTabSz="1828800" latinLnBrk="0">
      <a:defRPr sz="2400">
        <a:latin typeface="+mn-lt"/>
        <a:ea typeface="+mn-ea"/>
        <a:cs typeface="+mn-cs"/>
        <a:sym typeface="Open Sans"/>
      </a:defRPr>
    </a:lvl3pPr>
    <a:lvl4pPr indent="685800" defTabSz="1828800" latinLnBrk="0">
      <a:defRPr sz="2400">
        <a:latin typeface="+mn-lt"/>
        <a:ea typeface="+mn-ea"/>
        <a:cs typeface="+mn-cs"/>
        <a:sym typeface="Open Sans"/>
      </a:defRPr>
    </a:lvl4pPr>
    <a:lvl5pPr indent="914400" defTabSz="1828800" latinLnBrk="0">
      <a:defRPr sz="2400">
        <a:latin typeface="+mn-lt"/>
        <a:ea typeface="+mn-ea"/>
        <a:cs typeface="+mn-cs"/>
        <a:sym typeface="Open Sans"/>
      </a:defRPr>
    </a:lvl5pPr>
    <a:lvl6pPr indent="1143000" defTabSz="1828800" latinLnBrk="0">
      <a:defRPr sz="2400">
        <a:latin typeface="+mn-lt"/>
        <a:ea typeface="+mn-ea"/>
        <a:cs typeface="+mn-cs"/>
        <a:sym typeface="Open Sans"/>
      </a:defRPr>
    </a:lvl6pPr>
    <a:lvl7pPr indent="1371600" defTabSz="1828800" latinLnBrk="0">
      <a:defRPr sz="2400">
        <a:latin typeface="+mn-lt"/>
        <a:ea typeface="+mn-ea"/>
        <a:cs typeface="+mn-cs"/>
        <a:sym typeface="Open Sans"/>
      </a:defRPr>
    </a:lvl7pPr>
    <a:lvl8pPr indent="1600200" defTabSz="1828800" latinLnBrk="0">
      <a:defRPr sz="2400">
        <a:latin typeface="+mn-lt"/>
        <a:ea typeface="+mn-ea"/>
        <a:cs typeface="+mn-cs"/>
        <a:sym typeface="Open Sans"/>
      </a:defRPr>
    </a:lvl8pPr>
    <a:lvl9pPr indent="1828800" defTabSz="1828800" latinLnBrk="0">
      <a:defRPr sz="2400">
        <a:latin typeface="+mn-lt"/>
        <a:ea typeface="+mn-ea"/>
        <a:cs typeface="+mn-cs"/>
        <a:sym typeface="Open San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2.jpe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ier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Logo Universidad INACAP-Hor-1.jpg" descr="Logo Universidad INACAP-Hor-1.jp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57509" y="5590904"/>
            <a:ext cx="4866138" cy="161979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6" name="Imagen 4" descr="Imagen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9060488"/>
            <a:ext cx="24384000" cy="4655512"/>
          </a:xfrm>
          <a:prstGeom prst="rect">
            <a:avLst/>
          </a:prstGeom>
          <a:ln w="12700">
            <a:miter lim="400000"/>
          </a:ln>
        </p:spPr>
      </p:pic>
      <p:pic>
        <p:nvPicPr>
          <p:cNvPr id="137" name="Imagen 4" descr="Imagen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24384000" cy="1665658"/>
          </a:xfrm>
          <a:prstGeom prst="rect">
            <a:avLst/>
          </a:prstGeom>
          <a:ln w="12700">
            <a:miter lim="400000"/>
          </a:ln>
        </p:spPr>
      </p:pic>
      <p:sp>
        <p:nvSpPr>
          <p:cNvPr id="141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Logo Universidad INACAP-Hor-1.jpg" descr="Logo Universidad INACAP-Hor-1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951265" y="2254691"/>
            <a:ext cx="10481342" cy="12700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6" name="Grupo"/>
          <p:cNvGrpSpPr/>
          <p:nvPr/>
        </p:nvGrpSpPr>
        <p:grpSpPr>
          <a:xfrm>
            <a:off x="5842000" y="2254691"/>
            <a:ext cx="12700000" cy="1270001"/>
            <a:chOff x="0" y="0"/>
            <a:chExt cx="12700000" cy="1270000"/>
          </a:xfrm>
        </p:grpSpPr>
        <p:sp>
          <p:nvSpPr>
            <p:cNvPr id="24" name="Rectángulo"/>
            <p:cNvSpPr/>
            <p:nvPr/>
          </p:nvSpPr>
          <p:spPr>
            <a:xfrm>
              <a:off x="0" y="0"/>
              <a:ext cx="12700000" cy="127000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63500" tIns="63500" rIns="63500" bIns="63500" numCol="1" anchor="ctr">
              <a:noAutofit/>
            </a:bodyPr>
            <a:lstStyle/>
            <a:p>
              <a:pPr algn="ctr" defTabSz="457200">
                <a:defRPr sz="4000" b="1" spc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Open Sans"/>
                </a:defRPr>
              </a:pPr>
              <a:endParaRPr/>
            </a:p>
          </p:txBody>
        </p:sp>
        <p:pic>
          <p:nvPicPr>
            <p:cNvPr id="25" name="INACAP_conbajada2.jpeg" descr="INACAP_conbajada2.jpe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84767" y="0"/>
              <a:ext cx="10130466" cy="1270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27" name="Imagen 4" descr="Imagen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24384000" cy="1564008"/>
          </a:xfrm>
          <a:prstGeom prst="rect">
            <a:avLst/>
          </a:prstGeom>
          <a:ln w="12700">
            <a:miter lim="400000"/>
          </a:ln>
        </p:spPr>
      </p:pic>
      <p:sp>
        <p:nvSpPr>
          <p:cNvPr id="28" name="TÍTULO DE LA PRESENTACIÓN"/>
          <p:cNvSpPr txBox="1">
            <a:spLocks noGrp="1"/>
          </p:cNvSpPr>
          <p:nvPr>
            <p:ph type="body" sz="quarter" idx="13"/>
          </p:nvPr>
        </p:nvSpPr>
        <p:spPr>
          <a:xfrm>
            <a:off x="3302000" y="5734619"/>
            <a:ext cx="17780000" cy="1732281"/>
          </a:xfrm>
          <a:prstGeom prst="rect">
            <a:avLst/>
          </a:prstGeom>
        </p:spPr>
        <p:txBody>
          <a:bodyPr anchor="b">
            <a:spAutoFit/>
          </a:bodyPr>
          <a:lstStyle/>
          <a:p>
            <a:pPr marL="0" indent="0" algn="ctr">
              <a:buSzTx/>
              <a:buFontTx/>
              <a:buNone/>
              <a:defRPr sz="9000" spc="-450">
                <a:solidFill>
                  <a:srgbClr val="5E5E5E"/>
                </a:solidFill>
                <a:latin typeface="+mn-lt"/>
                <a:ea typeface="+mn-ea"/>
                <a:cs typeface="+mn-cs"/>
                <a:sym typeface="Open Sans"/>
              </a:defRPr>
            </a:pPr>
            <a:r>
              <a:rPr>
                <a:latin typeface="Open Sans Light"/>
                <a:ea typeface="Open Sans Light"/>
                <a:cs typeface="Open Sans Light"/>
                <a:sym typeface="Open Sans Light"/>
              </a:rPr>
              <a:t>TÍTULO DE LA</a:t>
            </a:r>
            <a:r>
              <a:rPr b="1"/>
              <a:t> PRESENTACIÓN</a:t>
            </a:r>
          </a:p>
        </p:txBody>
      </p:sp>
      <p:sp>
        <p:nvSpPr>
          <p:cNvPr id="29" name="SUBTÍTULO DE LA PRESENTACIÓN"/>
          <p:cNvSpPr txBox="1">
            <a:spLocks noGrp="1"/>
          </p:cNvSpPr>
          <p:nvPr>
            <p:ph type="body" sz="quarter" idx="14"/>
          </p:nvPr>
        </p:nvSpPr>
        <p:spPr>
          <a:xfrm>
            <a:off x="3302000" y="7252400"/>
            <a:ext cx="17780000" cy="72898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SzTx/>
              <a:buFontTx/>
              <a:buNone/>
              <a:defRPr sz="3200" spc="-160"/>
            </a:lvl1pPr>
          </a:lstStyle>
          <a:p>
            <a:r>
              <a:t>SUBTÍTULO DE LA PRESENTACIÓN</a:t>
            </a:r>
          </a:p>
        </p:txBody>
      </p:sp>
      <p:sp>
        <p:nvSpPr>
          <p:cNvPr id="30" name="Mes 2018…"/>
          <p:cNvSpPr txBox="1">
            <a:spLocks noGrp="1"/>
          </p:cNvSpPr>
          <p:nvPr>
            <p:ph type="body" sz="quarter" idx="15"/>
          </p:nvPr>
        </p:nvSpPr>
        <p:spPr>
          <a:xfrm>
            <a:off x="7536646" y="10865732"/>
            <a:ext cx="9310708" cy="12242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ctr">
              <a:buSzTx/>
              <a:buFontTx/>
              <a:buNone/>
            </a:pPr>
            <a:r>
              <a:t>Mes 2018</a:t>
            </a:r>
          </a:p>
          <a:p>
            <a:pPr marL="0" indent="0" algn="ctr">
              <a:buSzTx/>
              <a:buFontTx/>
              <a:buNone/>
            </a:pPr>
            <a:r>
              <a:t>Vicerrectoría de Vinculación con el Medio y Comunicaciones</a:t>
            </a:r>
          </a:p>
        </p:txBody>
      </p:sp>
      <p:pic>
        <p:nvPicPr>
          <p:cNvPr id="31" name="Imagen 4" descr="Imagen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3406397"/>
            <a:ext cx="24384000" cy="309603"/>
          </a:xfrm>
          <a:prstGeom prst="rect">
            <a:avLst/>
          </a:prstGeom>
          <a:ln w="12700">
            <a:miter lim="400000"/>
          </a:ln>
        </p:spPr>
      </p:pic>
      <p:sp>
        <p:nvSpPr>
          <p:cNvPr id="32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2699318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ONTENIDO"/>
          <p:cNvSpPr txBox="1">
            <a:spLocks noGrp="1"/>
          </p:cNvSpPr>
          <p:nvPr>
            <p:ph type="body" sz="quarter" idx="13"/>
          </p:nvPr>
        </p:nvSpPr>
        <p:spPr>
          <a:xfrm>
            <a:off x="1280258" y="5925936"/>
            <a:ext cx="7617172" cy="1224281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algn="r">
              <a:buSzTx/>
              <a:buFontTx/>
              <a:buNone/>
              <a:defRPr sz="6000" spc="-300"/>
            </a:lvl1pPr>
          </a:lstStyle>
          <a:p>
            <a:r>
              <a:t>CONTENIDO</a:t>
            </a:r>
          </a:p>
        </p:txBody>
      </p:sp>
      <p:sp>
        <p:nvSpPr>
          <p:cNvPr id="40" name="Contenido uno: lorem ipsum dolor sit amet…"/>
          <p:cNvSpPr txBox="1">
            <a:spLocks noGrp="1"/>
          </p:cNvSpPr>
          <p:nvPr>
            <p:ph type="body" sz="quarter" idx="14"/>
          </p:nvPr>
        </p:nvSpPr>
        <p:spPr>
          <a:xfrm>
            <a:off x="9904451" y="4560686"/>
            <a:ext cx="11430001" cy="3954781"/>
          </a:xfrm>
          <a:prstGeom prst="rect">
            <a:avLst/>
          </a:prstGeom>
        </p:spPr>
        <p:txBody>
          <a:bodyPr anchor="ctr">
            <a:spAutoFit/>
          </a:bodyPr>
          <a:lstStyle/>
          <a:p>
            <a:pPr marL="761999" indent="-761999">
              <a:lnSpc>
                <a:spcPct val="110000"/>
              </a:lnSpc>
              <a:buFontTx/>
              <a:buAutoNum type="arabicPeriod"/>
              <a:defRPr sz="4000" spc="-200"/>
            </a:pPr>
            <a:r>
              <a:t>Contenido uno: lorem ipsum dolor sit amet</a:t>
            </a:r>
          </a:p>
          <a:p>
            <a:pPr marL="761999" indent="-761999">
              <a:lnSpc>
                <a:spcPct val="110000"/>
              </a:lnSpc>
              <a:buFontTx/>
              <a:buAutoNum type="arabicPeriod"/>
              <a:defRPr sz="4000" spc="-200"/>
            </a:pPr>
            <a:r>
              <a:t>Contenido dos: lorem ipsum dolor sit amet</a:t>
            </a:r>
          </a:p>
          <a:p>
            <a:pPr marL="761999" indent="-761999">
              <a:lnSpc>
                <a:spcPct val="110000"/>
              </a:lnSpc>
              <a:buFontTx/>
              <a:buAutoNum type="arabicPeriod"/>
              <a:defRPr sz="4000" spc="-200"/>
            </a:pPr>
            <a:r>
              <a:t>Contenido tres: lorem ipsum dolor sit amet</a:t>
            </a:r>
          </a:p>
          <a:p>
            <a:pPr marL="761999" indent="-761999">
              <a:lnSpc>
                <a:spcPct val="110000"/>
              </a:lnSpc>
              <a:buFontTx/>
              <a:buAutoNum type="arabicPeriod"/>
              <a:defRPr sz="4000" spc="-200"/>
            </a:pPr>
            <a:r>
              <a:t>Contenido cuatro: lorem ipsum dolor sit amet</a:t>
            </a:r>
          </a:p>
          <a:p>
            <a:pPr marL="761999" indent="-761999">
              <a:lnSpc>
                <a:spcPct val="110000"/>
              </a:lnSpc>
              <a:buFontTx/>
              <a:buAutoNum type="arabicPeriod"/>
              <a:defRPr sz="4000" spc="-200"/>
            </a:pPr>
            <a:r>
              <a:t>Contenido cinco: lorem ipsum dolor sit amet</a:t>
            </a:r>
          </a:p>
        </p:txBody>
      </p:sp>
      <p:sp>
        <p:nvSpPr>
          <p:cNvPr id="41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17635605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2_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ítulo de la diapositiva…"/>
          <p:cNvSpPr txBox="1">
            <a:spLocks noGrp="1"/>
          </p:cNvSpPr>
          <p:nvPr>
            <p:ph type="body" sz="quarter" idx="13"/>
          </p:nvPr>
        </p:nvSpPr>
        <p:spPr>
          <a:xfrm>
            <a:off x="1278379" y="1272465"/>
            <a:ext cx="16981241" cy="1922781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buSzTx/>
              <a:buFontTx/>
              <a:buNone/>
              <a:defRPr sz="6000" spc="-300"/>
            </a:pPr>
            <a:r>
              <a:t>Título de la diapositiva</a:t>
            </a:r>
          </a:p>
          <a:p>
            <a:pPr marL="0" indent="0">
              <a:buSzTx/>
              <a:buFontTx/>
              <a:buNone/>
              <a:defRPr sz="4000" spc="-200"/>
            </a:pPr>
            <a:r>
              <a:t>Subtítulo de la diapositiva</a:t>
            </a:r>
          </a:p>
        </p:txBody>
      </p:sp>
      <p:grpSp>
        <p:nvGrpSpPr>
          <p:cNvPr id="73" name="Grupo"/>
          <p:cNvGrpSpPr/>
          <p:nvPr/>
        </p:nvGrpSpPr>
        <p:grpSpPr>
          <a:xfrm>
            <a:off x="0" y="0"/>
            <a:ext cx="24384000" cy="574931"/>
            <a:chOff x="0" y="0"/>
            <a:chExt cx="24384000" cy="574930"/>
          </a:xfrm>
        </p:grpSpPr>
        <p:pic>
          <p:nvPicPr>
            <p:cNvPr id="71" name="Imagen 4" descr="Imagen 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4384000" cy="51256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2" name="Rectángulo"/>
            <p:cNvSpPr/>
            <p:nvPr/>
          </p:nvSpPr>
          <p:spPr>
            <a:xfrm>
              <a:off x="975290" y="279680"/>
              <a:ext cx="4186137" cy="29525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endParaRPr/>
            </a:p>
          </p:txBody>
        </p:sp>
      </p:grpSp>
      <p:grpSp>
        <p:nvGrpSpPr>
          <p:cNvPr id="76" name="Grupo"/>
          <p:cNvGrpSpPr/>
          <p:nvPr/>
        </p:nvGrpSpPr>
        <p:grpSpPr>
          <a:xfrm>
            <a:off x="0" y="12813001"/>
            <a:ext cx="24384000" cy="902999"/>
            <a:chOff x="0" y="0"/>
            <a:chExt cx="24384000" cy="902998"/>
          </a:xfrm>
        </p:grpSpPr>
        <p:pic>
          <p:nvPicPr>
            <p:cNvPr id="74" name="Imagen 4" descr="Imagen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0" y="5601"/>
              <a:ext cx="24384000" cy="89739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5" name="Rectángulo"/>
            <p:cNvSpPr/>
            <p:nvPr/>
          </p:nvSpPr>
          <p:spPr>
            <a:xfrm>
              <a:off x="19495884" y="0"/>
              <a:ext cx="4234273" cy="375466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endParaRPr/>
            </a:p>
          </p:txBody>
        </p:sp>
      </p:grpSp>
      <p:sp>
        <p:nvSpPr>
          <p:cNvPr id="81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pic>
        <p:nvPicPr>
          <p:cNvPr id="10" name="INACAP_conbajada2.jpeg" descr="INACAP_conbajada2.jpeg">
            <a:extLst>
              <a:ext uri="{FF2B5EF4-FFF2-40B4-BE49-F238E27FC236}">
                <a16:creationId xmlns:a16="http://schemas.microsoft.com/office/drawing/2014/main" id="{243BB218-5DAB-3D4A-B21E-06A559B876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335999" y="12439441"/>
            <a:ext cx="2152355" cy="571501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</p:spTree>
    <p:extLst>
      <p:ext uri="{BB962C8B-B14F-4D97-AF65-F5344CB8AC3E}">
        <p14:creationId xmlns:p14="http://schemas.microsoft.com/office/powerpoint/2010/main" val="4138617748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in fon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258114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jpe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5.xml"/><Relationship Id="rId9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Universidad INACAP-Hor-1.jpg" descr="Logo Universidad INACAP-Hor-1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850769" y="12439441"/>
            <a:ext cx="4716605" cy="5715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" name="Grupo"/>
          <p:cNvGrpSpPr/>
          <p:nvPr/>
        </p:nvGrpSpPr>
        <p:grpSpPr>
          <a:xfrm>
            <a:off x="0" y="0"/>
            <a:ext cx="24384000" cy="574931"/>
            <a:chOff x="0" y="0"/>
            <a:chExt cx="24384000" cy="574930"/>
          </a:xfrm>
        </p:grpSpPr>
        <p:pic>
          <p:nvPicPr>
            <p:cNvPr id="3" name="Imagen 4" descr="Imagen 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4384000" cy="51256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" name="Rectángulo"/>
            <p:cNvSpPr/>
            <p:nvPr/>
          </p:nvSpPr>
          <p:spPr>
            <a:xfrm>
              <a:off x="975290" y="279680"/>
              <a:ext cx="4186137" cy="29525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endParaRPr/>
            </a:p>
          </p:txBody>
        </p:sp>
      </p:grpSp>
      <p:grpSp>
        <p:nvGrpSpPr>
          <p:cNvPr id="8" name="Grupo"/>
          <p:cNvGrpSpPr/>
          <p:nvPr/>
        </p:nvGrpSpPr>
        <p:grpSpPr>
          <a:xfrm>
            <a:off x="0" y="12813001"/>
            <a:ext cx="24384000" cy="902999"/>
            <a:chOff x="0" y="0"/>
            <a:chExt cx="24384000" cy="902998"/>
          </a:xfrm>
        </p:grpSpPr>
        <p:pic>
          <p:nvPicPr>
            <p:cNvPr id="6" name="Imagen 4" descr="Imagen 4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0" y="5601"/>
              <a:ext cx="24384000" cy="89739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" name="Rectángulo"/>
            <p:cNvSpPr/>
            <p:nvPr/>
          </p:nvSpPr>
          <p:spPr>
            <a:xfrm>
              <a:off x="19495884" y="0"/>
              <a:ext cx="4234273" cy="375466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endParaRPr/>
            </a:p>
          </p:txBody>
        </p:sp>
      </p:grpSp>
      <p:sp>
        <p:nvSpPr>
          <p:cNvPr id="9" name="Línea"/>
          <p:cNvSpPr/>
          <p:nvPr/>
        </p:nvSpPr>
        <p:spPr>
          <a:xfrm>
            <a:off x="7488570" y="7111328"/>
            <a:ext cx="1275619" cy="1"/>
          </a:xfrm>
          <a:prstGeom prst="line">
            <a:avLst/>
          </a:prstGeom>
          <a:ln w="25400">
            <a:solidFill>
              <a:srgbClr val="DF2427"/>
            </a:solidFill>
            <a:miter/>
          </a:ln>
        </p:spPr>
        <p:txBody>
          <a:bodyPr tIns="91439" bIns="91439"/>
          <a:lstStyle/>
          <a:p>
            <a:endParaRPr/>
          </a:p>
        </p:txBody>
      </p:sp>
      <p:sp>
        <p:nvSpPr>
          <p:cNvPr id="10" name="Línea"/>
          <p:cNvSpPr/>
          <p:nvPr/>
        </p:nvSpPr>
        <p:spPr>
          <a:xfrm>
            <a:off x="18034000" y="12099576"/>
            <a:ext cx="6350000" cy="1"/>
          </a:xfrm>
          <a:prstGeom prst="line">
            <a:avLst/>
          </a:prstGeom>
          <a:ln w="12700">
            <a:solidFill>
              <a:srgbClr val="D6D6D6"/>
            </a:solidFill>
            <a:miter/>
          </a:ln>
        </p:spPr>
        <p:txBody>
          <a:bodyPr tIns="91439" bIns="91439"/>
          <a:lstStyle/>
          <a:p>
            <a:endParaRPr/>
          </a:p>
        </p:txBody>
      </p:sp>
      <p:grpSp>
        <p:nvGrpSpPr>
          <p:cNvPr id="13" name="Grupo"/>
          <p:cNvGrpSpPr/>
          <p:nvPr/>
        </p:nvGrpSpPr>
        <p:grpSpPr>
          <a:xfrm>
            <a:off x="18351500" y="12439441"/>
            <a:ext cx="5715000" cy="571501"/>
            <a:chOff x="0" y="0"/>
            <a:chExt cx="5715000" cy="571500"/>
          </a:xfrm>
        </p:grpSpPr>
        <p:sp>
          <p:nvSpPr>
            <p:cNvPr id="11" name="Rectángulo"/>
            <p:cNvSpPr/>
            <p:nvPr/>
          </p:nvSpPr>
          <p:spPr>
            <a:xfrm>
              <a:off x="0" y="0"/>
              <a:ext cx="5715000" cy="57150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63500" tIns="63500" rIns="63500" bIns="63500" numCol="1" anchor="ctr">
              <a:noAutofit/>
            </a:bodyPr>
            <a:lstStyle/>
            <a:p>
              <a:pPr algn="ctr" defTabSz="457200">
                <a:defRPr sz="4000" b="1" spc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Open Sans"/>
                </a:defRPr>
              </a:pPr>
              <a:endParaRPr/>
            </a:p>
          </p:txBody>
        </p:sp>
        <p:pic>
          <p:nvPicPr>
            <p:cNvPr id="12" name="INACAP_conbajada2.jpeg" descr="INACAP_conbajada2.jpeg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8145" y="0"/>
              <a:ext cx="4558710" cy="5715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4" name="Texto del título"/>
          <p:cNvSpPr txBox="1">
            <a:spLocks noGrp="1"/>
          </p:cNvSpPr>
          <p:nvPr>
            <p:ph type="title"/>
          </p:nvPr>
        </p:nvSpPr>
        <p:spPr>
          <a:xfrm>
            <a:off x="1219200" y="184149"/>
            <a:ext cx="21945600" cy="3016251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tIns="91439" bIns="91439" anchor="ctr">
            <a:normAutofit/>
          </a:bodyPr>
          <a:lstStyle/>
          <a:p>
            <a:r>
              <a:t>Texto del título</a:t>
            </a:r>
          </a:p>
        </p:txBody>
      </p:sp>
      <p:sp>
        <p:nvSpPr>
          <p:cNvPr id="15" name="Nivel de texto 1…"/>
          <p:cNvSpPr txBox="1">
            <a:spLocks noGrp="1"/>
          </p:cNvSpPr>
          <p:nvPr>
            <p:ph type="body" idx="1"/>
          </p:nvPr>
        </p:nvSpPr>
        <p:spPr>
          <a:xfrm>
            <a:off x="1219200" y="3200400"/>
            <a:ext cx="21945600" cy="10515600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tIns="91439" bIns="91439">
            <a:normAutofit/>
          </a:bodyPr>
          <a:lstStyle/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16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22707600" y="12726034"/>
            <a:ext cx="592431" cy="703581"/>
          </a:xfrm>
          <a:prstGeom prst="rect">
            <a:avLst/>
          </a:prstGeom>
          <a:ln w="25400">
            <a:miter lim="400000"/>
          </a:ln>
        </p:spPr>
        <p:txBody>
          <a:bodyPr wrap="none" tIns="91439" bIns="91439" anchor="ctr">
            <a:spAutoFit/>
          </a:bodyPr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transition spd="med"/>
  <p:txStyles>
    <p:titleStyle>
      <a:lvl1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1pPr>
      <a:lvl2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2pPr>
      <a:lvl3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3pPr>
      <a:lvl4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4pPr>
      <a:lvl5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5pPr>
      <a:lvl6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6pPr>
      <a:lvl7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7pPr>
      <a:lvl8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8pPr>
      <a:lvl9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9pPr>
    </p:titleStyle>
    <p:bodyStyle>
      <a:lvl1pPr marL="244928" marR="0" indent="-244928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1pPr>
      <a:lvl2pPr marL="742950" marR="0" indent="-28575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2pPr>
      <a:lvl3pPr marL="1257300" marR="0" indent="-3429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3pPr>
      <a:lvl4pPr marL="1752600" marR="0" indent="-3810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4pPr>
      <a:lvl5pPr marL="2209800" marR="0" indent="-3810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5pPr>
      <a:lvl6pPr marL="2667000" marR="0" indent="-3810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6pPr>
      <a:lvl7pPr marL="3124200" marR="0" indent="-3810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7pPr>
      <a:lvl8pPr marL="3581400" marR="0" indent="-3810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8pPr>
      <a:lvl9pPr marL="4038600" marR="0" indent="-3810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9pPr>
    </p:bodyStyle>
    <p:otherStyle>
      <a:lvl1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1pPr>
      <a:lvl2pPr marL="0" marR="0" indent="4572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2pPr>
      <a:lvl3pPr marL="0" marR="0" indent="9144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3pPr>
      <a:lvl4pPr marL="0" marR="0" indent="13716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4pPr>
      <a:lvl5pPr marL="0" marR="0" indent="18288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5pPr>
      <a:lvl6pPr marL="0" marR="0" indent="22860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6pPr>
      <a:lvl7pPr marL="0" marR="0" indent="27432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7pPr>
      <a:lvl8pPr marL="0" marR="0" indent="32004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8pPr>
      <a:lvl9pPr marL="0" marR="0" indent="36576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Universidad INACAP-Hor-1.jpg" descr="Logo Universidad INACAP-Hor-1.jpg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850769" y="12439441"/>
            <a:ext cx="4716605" cy="5715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" name="Grupo"/>
          <p:cNvGrpSpPr/>
          <p:nvPr/>
        </p:nvGrpSpPr>
        <p:grpSpPr>
          <a:xfrm>
            <a:off x="0" y="0"/>
            <a:ext cx="24384000" cy="574931"/>
            <a:chOff x="0" y="0"/>
            <a:chExt cx="24384000" cy="574930"/>
          </a:xfrm>
        </p:grpSpPr>
        <p:pic>
          <p:nvPicPr>
            <p:cNvPr id="3" name="Imagen 4" descr="Imagen 4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24384000" cy="51256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" name="Rectángulo"/>
            <p:cNvSpPr/>
            <p:nvPr/>
          </p:nvSpPr>
          <p:spPr>
            <a:xfrm>
              <a:off x="975290" y="279680"/>
              <a:ext cx="4186137" cy="29525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endParaRPr/>
            </a:p>
          </p:txBody>
        </p:sp>
      </p:grpSp>
      <p:grpSp>
        <p:nvGrpSpPr>
          <p:cNvPr id="8" name="Grupo"/>
          <p:cNvGrpSpPr/>
          <p:nvPr/>
        </p:nvGrpSpPr>
        <p:grpSpPr>
          <a:xfrm>
            <a:off x="0" y="12813001"/>
            <a:ext cx="24384000" cy="902999"/>
            <a:chOff x="0" y="0"/>
            <a:chExt cx="24384000" cy="902998"/>
          </a:xfrm>
        </p:grpSpPr>
        <p:pic>
          <p:nvPicPr>
            <p:cNvPr id="6" name="Imagen 4" descr="Imagen 4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0" y="5601"/>
              <a:ext cx="24384000" cy="89739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" name="Rectángulo"/>
            <p:cNvSpPr/>
            <p:nvPr/>
          </p:nvSpPr>
          <p:spPr>
            <a:xfrm>
              <a:off x="19495884" y="0"/>
              <a:ext cx="4234273" cy="375466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endParaRPr/>
            </a:p>
          </p:txBody>
        </p:sp>
      </p:grpSp>
      <p:sp>
        <p:nvSpPr>
          <p:cNvPr id="9" name="Línea"/>
          <p:cNvSpPr/>
          <p:nvPr/>
        </p:nvSpPr>
        <p:spPr>
          <a:xfrm>
            <a:off x="7488570" y="7111328"/>
            <a:ext cx="1275619" cy="1"/>
          </a:xfrm>
          <a:prstGeom prst="line">
            <a:avLst/>
          </a:prstGeom>
          <a:ln w="25400">
            <a:solidFill>
              <a:srgbClr val="DF2427"/>
            </a:solidFill>
            <a:miter/>
          </a:ln>
        </p:spPr>
        <p:txBody>
          <a:bodyPr tIns="91439" bIns="91439"/>
          <a:lstStyle/>
          <a:p>
            <a:endParaRPr/>
          </a:p>
        </p:txBody>
      </p:sp>
      <p:sp>
        <p:nvSpPr>
          <p:cNvPr id="10" name="Línea"/>
          <p:cNvSpPr/>
          <p:nvPr/>
        </p:nvSpPr>
        <p:spPr>
          <a:xfrm>
            <a:off x="18034000" y="12099576"/>
            <a:ext cx="6350000" cy="1"/>
          </a:xfrm>
          <a:prstGeom prst="line">
            <a:avLst/>
          </a:prstGeom>
          <a:ln w="12700">
            <a:solidFill>
              <a:srgbClr val="D6D6D6"/>
            </a:solidFill>
            <a:miter/>
          </a:ln>
        </p:spPr>
        <p:txBody>
          <a:bodyPr tIns="91439" bIns="91439"/>
          <a:lstStyle/>
          <a:p>
            <a:endParaRPr/>
          </a:p>
        </p:txBody>
      </p:sp>
      <p:grpSp>
        <p:nvGrpSpPr>
          <p:cNvPr id="13" name="Grupo"/>
          <p:cNvGrpSpPr/>
          <p:nvPr/>
        </p:nvGrpSpPr>
        <p:grpSpPr>
          <a:xfrm>
            <a:off x="18351500" y="12439441"/>
            <a:ext cx="5715000" cy="571501"/>
            <a:chOff x="0" y="0"/>
            <a:chExt cx="5715000" cy="571500"/>
          </a:xfrm>
        </p:grpSpPr>
        <p:sp>
          <p:nvSpPr>
            <p:cNvPr id="11" name="Rectángulo"/>
            <p:cNvSpPr/>
            <p:nvPr/>
          </p:nvSpPr>
          <p:spPr>
            <a:xfrm>
              <a:off x="0" y="0"/>
              <a:ext cx="5715000" cy="57150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63500" tIns="63500" rIns="63500" bIns="63500" numCol="1" anchor="ctr">
              <a:noAutofit/>
            </a:bodyPr>
            <a:lstStyle/>
            <a:p>
              <a:pPr algn="ctr" defTabSz="457200">
                <a:defRPr sz="4000" b="1" spc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Open Sans"/>
                </a:defRPr>
              </a:pPr>
              <a:endParaRPr/>
            </a:p>
          </p:txBody>
        </p:sp>
        <p:pic>
          <p:nvPicPr>
            <p:cNvPr id="12" name="INACAP_conbajada2.jpeg" descr="INACAP_conbajada2.jpeg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8145" y="0"/>
              <a:ext cx="4558710" cy="5715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4" name="Texto del título"/>
          <p:cNvSpPr txBox="1">
            <a:spLocks noGrp="1"/>
          </p:cNvSpPr>
          <p:nvPr>
            <p:ph type="title"/>
          </p:nvPr>
        </p:nvSpPr>
        <p:spPr>
          <a:xfrm>
            <a:off x="1219200" y="184149"/>
            <a:ext cx="21945600" cy="3016251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tIns="91439" bIns="91439" anchor="ctr">
            <a:normAutofit/>
          </a:bodyPr>
          <a:lstStyle/>
          <a:p>
            <a:r>
              <a:t>Texto del título</a:t>
            </a:r>
          </a:p>
        </p:txBody>
      </p:sp>
      <p:sp>
        <p:nvSpPr>
          <p:cNvPr id="15" name="Nivel de texto 1…"/>
          <p:cNvSpPr txBox="1">
            <a:spLocks noGrp="1"/>
          </p:cNvSpPr>
          <p:nvPr>
            <p:ph type="body" idx="1"/>
          </p:nvPr>
        </p:nvSpPr>
        <p:spPr>
          <a:xfrm>
            <a:off x="1219200" y="3200400"/>
            <a:ext cx="21945600" cy="10515600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tIns="91439" bIns="91439">
            <a:normAutofit/>
          </a:bodyPr>
          <a:lstStyle/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16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22707600" y="12726034"/>
            <a:ext cx="592431" cy="703581"/>
          </a:xfrm>
          <a:prstGeom prst="rect">
            <a:avLst/>
          </a:prstGeom>
          <a:ln w="25400">
            <a:miter lim="400000"/>
          </a:ln>
        </p:spPr>
        <p:txBody>
          <a:bodyPr wrap="none" tIns="91439" bIns="91439" anchor="ctr">
            <a:spAutoFit/>
          </a:bodyPr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2085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5" r:id="rId3"/>
    <p:sldLayoutId id="2147483662" r:id="rId4"/>
  </p:sldLayoutIdLst>
  <p:transition spd="med"/>
  <p:txStyles>
    <p:titleStyle>
      <a:lvl1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1pPr>
      <a:lvl2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2pPr>
      <a:lvl3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3pPr>
      <a:lvl4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4pPr>
      <a:lvl5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5pPr>
      <a:lvl6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6pPr>
      <a:lvl7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7pPr>
      <a:lvl8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8pPr>
      <a:lvl9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30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9pPr>
    </p:titleStyle>
    <p:bodyStyle>
      <a:lvl1pPr marL="244928" marR="0" indent="-244928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1pPr>
      <a:lvl2pPr marL="742950" marR="0" indent="-28575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2pPr>
      <a:lvl3pPr marL="1257300" marR="0" indent="-3429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3pPr>
      <a:lvl4pPr marL="1752600" marR="0" indent="-3810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4pPr>
      <a:lvl5pPr marL="2209800" marR="0" indent="-3810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5pPr>
      <a:lvl6pPr marL="2667000" marR="0" indent="-3810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6pPr>
      <a:lvl7pPr marL="3124200" marR="0" indent="-3810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7pPr>
      <a:lvl8pPr marL="3581400" marR="0" indent="-3810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8pPr>
      <a:lvl9pPr marL="4038600" marR="0" indent="-3810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-150" baseline="0">
          <a:ln>
            <a:noFill/>
          </a:ln>
          <a:solidFill>
            <a:srgbClr val="535353"/>
          </a:solidFill>
          <a:uFillTx/>
          <a:latin typeface="Open Sans Light"/>
          <a:ea typeface="Open Sans Light"/>
          <a:cs typeface="Open Sans Light"/>
          <a:sym typeface="Open Sans Light"/>
        </a:defRPr>
      </a:lvl9pPr>
    </p:bodyStyle>
    <p:otherStyle>
      <a:lvl1pPr marL="0" marR="0" indent="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1pPr>
      <a:lvl2pPr marL="0" marR="0" indent="4572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2pPr>
      <a:lvl3pPr marL="0" marR="0" indent="9144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3pPr>
      <a:lvl4pPr marL="0" marR="0" indent="13716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4pPr>
      <a:lvl5pPr marL="0" marR="0" indent="18288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5pPr>
      <a:lvl6pPr marL="0" marR="0" indent="22860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6pPr>
      <a:lvl7pPr marL="0" marR="0" indent="27432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7pPr>
      <a:lvl8pPr marL="0" marR="0" indent="32004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8pPr>
      <a:lvl9pPr marL="0" marR="0" indent="3657600" algn="l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-15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pen Sans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ÍTULO DE LA PRESENTACIÓN"/>
          <p:cNvSpPr txBox="1">
            <a:spLocks noGrp="1"/>
          </p:cNvSpPr>
          <p:nvPr>
            <p:ph type="body" idx="13"/>
          </p:nvPr>
        </p:nvSpPr>
        <p:spPr>
          <a:xfrm>
            <a:off x="3007324" y="4133482"/>
            <a:ext cx="17780000" cy="1292660"/>
          </a:xfrm>
          <a:prstGeom prst="rect">
            <a:avLst/>
          </a:prstGeom>
        </p:spPr>
        <p:txBody>
          <a:bodyPr/>
          <a:lstStyle/>
          <a:p>
            <a:pPr marL="0" indent="0" algn="ctr">
              <a:buSzTx/>
              <a:buFontTx/>
              <a:buNone/>
              <a:defRPr sz="9000" spc="-450">
                <a:solidFill>
                  <a:srgbClr val="5E5E5E"/>
                </a:solidFill>
                <a:latin typeface="+mn-lt"/>
                <a:ea typeface="+mn-ea"/>
                <a:cs typeface="+mn-cs"/>
                <a:sym typeface="Open Sans"/>
              </a:defRPr>
            </a:pPr>
            <a:r>
              <a:rPr lang="es-CL" sz="7200" b="1" dirty="0">
                <a:solidFill>
                  <a:srgbClr val="C00000"/>
                </a:solidFill>
              </a:rPr>
              <a:t>Defensa Proyecto de Título</a:t>
            </a:r>
          </a:p>
        </p:txBody>
      </p:sp>
      <p:sp>
        <p:nvSpPr>
          <p:cNvPr id="4" name="Rectángulo 3"/>
          <p:cNvSpPr/>
          <p:nvPr/>
        </p:nvSpPr>
        <p:spPr>
          <a:xfrm>
            <a:off x="1186152" y="8241398"/>
            <a:ext cx="1179832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4000" b="1" i="0" u="none" strike="noStrike" kern="0" cap="none" spc="-15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sym typeface="Open Sans Light"/>
              </a:rPr>
              <a:t>Samantha Caro</a:t>
            </a:r>
          </a:p>
          <a:p>
            <a:pPr marL="0" marR="0" lvl="0" indent="0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sz="4000" b="1" dirty="0">
                <a:solidFill>
                  <a:schemeClr val="tx1">
                    <a:lumMod val="50000"/>
                  </a:schemeClr>
                </a:solidFill>
              </a:rPr>
              <a:t>Rode Palma</a:t>
            </a:r>
            <a:endParaRPr kumimoji="0" lang="es-CL" sz="4000" b="1" i="0" u="none" strike="noStrike" kern="0" cap="none" spc="-15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sym typeface="Open Sans Light"/>
            </a:endParaRPr>
          </a:p>
          <a:p>
            <a:pPr marL="0" marR="0" lvl="0" indent="0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4000" b="1" i="0" u="none" strike="noStrike" kern="0" cap="none" spc="-15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sym typeface="Open Sans Light"/>
              </a:rPr>
              <a:t>Fecha:12/11/2025</a:t>
            </a:r>
          </a:p>
        </p:txBody>
      </p:sp>
      <p:sp>
        <p:nvSpPr>
          <p:cNvPr id="2" name="TÍTULO DE LA PRESENTACIÓN">
            <a:extLst>
              <a:ext uri="{FF2B5EF4-FFF2-40B4-BE49-F238E27FC236}">
                <a16:creationId xmlns:a16="http://schemas.microsoft.com/office/drawing/2014/main" id="{83C38FF6-4F02-1B45-CFB6-3844DFED8E15}"/>
              </a:ext>
            </a:extLst>
          </p:cNvPr>
          <p:cNvSpPr txBox="1">
            <a:spLocks/>
          </p:cNvSpPr>
          <p:nvPr/>
        </p:nvSpPr>
        <p:spPr>
          <a:xfrm>
            <a:off x="3007324" y="5842339"/>
            <a:ext cx="17780000" cy="1107994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 anchor="b">
            <a:spAutoFit/>
          </a:bodyPr>
          <a:lstStyle>
            <a:lvl1pPr marL="244928" marR="0" indent="-244928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742950" marR="0" indent="-28575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257300" marR="0" indent="-3429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752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098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6670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1242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5814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038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marL="0" indent="0" algn="ctr" hangingPunct="1">
              <a:buSzTx/>
              <a:buFontTx/>
              <a:buNone/>
              <a:defRPr sz="9000" spc="-450">
                <a:solidFill>
                  <a:srgbClr val="5E5E5E"/>
                </a:solidFill>
                <a:latin typeface="+mn-lt"/>
                <a:ea typeface="+mn-ea"/>
                <a:cs typeface="+mn-cs"/>
                <a:sym typeface="Open Sans"/>
              </a:defRPr>
            </a:pPr>
            <a:r>
              <a:rPr lang="es-CL" sz="6000" b="1" spc="-450" dirty="0" err="1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  <a:sym typeface="Open Sans"/>
              </a:rPr>
              <a:t>SecureQR</a:t>
            </a:r>
            <a:endParaRPr lang="es-CL" sz="6000" b="1" spc="-450" dirty="0">
              <a:solidFill>
                <a:schemeClr val="tx1">
                  <a:lumMod val="50000"/>
                </a:schemeClr>
              </a:solidFill>
              <a:latin typeface="+mn-lt"/>
              <a:ea typeface="+mn-ea"/>
              <a:cs typeface="+mn-cs"/>
              <a:sym typeface="Open Sans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F7E6727-5FAD-6846-C102-FFC0D6D38C8B}"/>
              </a:ext>
            </a:extLst>
          </p:cNvPr>
          <p:cNvSpPr/>
          <p:nvPr/>
        </p:nvSpPr>
        <p:spPr>
          <a:xfrm>
            <a:off x="17007840" y="11076038"/>
            <a:ext cx="684272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1828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sz="4000" b="1" dirty="0">
                <a:solidFill>
                  <a:schemeClr val="tx1">
                    <a:lumMod val="50000"/>
                  </a:schemeClr>
                </a:solidFill>
              </a:rPr>
              <a:t>Profesor Emilio Soto</a:t>
            </a:r>
          </a:p>
        </p:txBody>
      </p:sp>
    </p:spTree>
    <p:extLst>
      <p:ext uri="{BB962C8B-B14F-4D97-AF65-F5344CB8AC3E}">
        <p14:creationId xmlns:p14="http://schemas.microsoft.com/office/powerpoint/2010/main" val="354201133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911227F7-C013-1609-15EE-0AABA74867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50363" y="6012495"/>
            <a:ext cx="16981241" cy="6278640"/>
          </a:xfrm>
        </p:spPr>
        <p:txBody>
          <a:bodyPr/>
          <a:lstStyle/>
          <a:p>
            <a:r>
              <a:rPr lang="es-CL" sz="4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Afectados e interesados en el proyecto</a:t>
            </a:r>
          </a:p>
          <a:p>
            <a:pPr marL="0" indent="0">
              <a:buNone/>
            </a:pPr>
            <a:endParaRPr lang="es-CL" sz="4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s-CL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s-CL" sz="4400" b="1" dirty="0"/>
              <a:t>Afectados</a:t>
            </a:r>
            <a:r>
              <a:rPr lang="es-CL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es-CL" sz="4400" dirty="0"/>
              <a:t>Personas que usan códigos QR en su día a día </a:t>
            </a:r>
            <a:r>
              <a:rPr lang="es-CL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s-CL" sz="4400" b="1" dirty="0"/>
              <a:t>Interesados</a:t>
            </a:r>
            <a:r>
              <a:rPr lang="es-CL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 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s-ES" sz="4400" dirty="0"/>
              <a:t>Empresas financieras y bancarias (por pagos y transferencias con QR).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s-ES" sz="4400" dirty="0"/>
              <a:t>Comercios y </a:t>
            </a:r>
            <a:r>
              <a:rPr lang="es-ES" sz="4400" dirty="0" err="1"/>
              <a:t>retail</a:t>
            </a:r>
            <a:r>
              <a:rPr lang="es-ES" sz="4400" dirty="0"/>
              <a:t> (por promociones y facturación digital).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s-ES" sz="4400" dirty="0"/>
              <a:t>Instituciones educativas y gubernamentales (por trámites y difusión de información)</a:t>
            </a:r>
          </a:p>
        </p:txBody>
      </p:sp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A10DA445-5785-DA2F-B267-A005C179A12E}"/>
              </a:ext>
            </a:extLst>
          </p:cNvPr>
          <p:cNvSpPr txBox="1">
            <a:spLocks/>
          </p:cNvSpPr>
          <p:nvPr/>
        </p:nvSpPr>
        <p:spPr>
          <a:xfrm>
            <a:off x="1430779" y="1424865"/>
            <a:ext cx="16981241" cy="4247315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marL="244928" marR="0" indent="-244928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742950" marR="0" indent="-28575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257300" marR="0" indent="-3429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752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098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6670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1242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5814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038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hangingPunct="1"/>
            <a:r>
              <a:rPr lang="es-CL" sz="4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Identificación del problema </a:t>
            </a:r>
          </a:p>
          <a:p>
            <a:pPr marL="0" indent="0" hangingPunct="1">
              <a:buNone/>
            </a:pPr>
            <a:endParaRPr lang="es-ES" sz="4400" b="1" dirty="0"/>
          </a:p>
          <a:p>
            <a:pPr marL="0" indent="0" hangingPunct="1">
              <a:buNone/>
            </a:pPr>
            <a:r>
              <a:rPr lang="es-ES" sz="4400" b="1" dirty="0"/>
              <a:t>Imposibilidad de los usuarios para verificar la autenticidad</a:t>
            </a:r>
            <a:r>
              <a:rPr lang="es-ES" sz="4400" dirty="0"/>
              <a:t> de un código QR antes de interactuar con él, dispositivos móviles no ofrecen de forma nativa la visualización previa de la URL ni la validación de seguridad.</a:t>
            </a:r>
          </a:p>
          <a:p>
            <a:pPr marL="0" indent="0" hangingPunct="1">
              <a:buNone/>
            </a:pPr>
            <a:r>
              <a:rPr lang="es-ES" sz="4400" dirty="0"/>
              <a:t>Peligro de </a:t>
            </a:r>
            <a:r>
              <a:rPr lang="es-ES" sz="4400" dirty="0" err="1"/>
              <a:t>Quishing</a:t>
            </a:r>
            <a:r>
              <a:rPr lang="es-ES" sz="4400" dirty="0"/>
              <a:t> (Phishing de QR)</a:t>
            </a:r>
            <a:endParaRPr lang="es-CL" sz="4400" dirty="0"/>
          </a:p>
        </p:txBody>
      </p:sp>
    </p:spTree>
    <p:extLst>
      <p:ext uri="{BB962C8B-B14F-4D97-AF65-F5344CB8AC3E}">
        <p14:creationId xmlns:p14="http://schemas.microsoft.com/office/powerpoint/2010/main" val="3031444321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C5F61D24-E802-F22D-2863-5600C10D80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30779" y="5606721"/>
            <a:ext cx="16981241" cy="2215989"/>
          </a:xfrm>
        </p:spPr>
        <p:txBody>
          <a:bodyPr/>
          <a:lstStyle/>
          <a:p>
            <a:r>
              <a:rPr lang="es-CL" sz="4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Restricciones</a:t>
            </a:r>
          </a:p>
          <a:p>
            <a:endParaRPr lang="es-CL" sz="4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s-ES" sz="4400" dirty="0"/>
              <a:t>No incluye versión </a:t>
            </a:r>
            <a:r>
              <a:rPr lang="es-ES" sz="4400" b="1" dirty="0"/>
              <a:t>iOS</a:t>
            </a:r>
            <a:r>
              <a:rPr lang="es-ES" sz="4400" dirty="0"/>
              <a:t> ni funcionalidades </a:t>
            </a:r>
            <a:r>
              <a:rPr lang="es-ES" sz="4400" b="1" dirty="0"/>
              <a:t>offline</a:t>
            </a:r>
            <a:endParaRPr lang="es-CL" sz="4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Marcador de texto 1">
            <a:extLst>
              <a:ext uri="{FF2B5EF4-FFF2-40B4-BE49-F238E27FC236}">
                <a16:creationId xmlns:a16="http://schemas.microsoft.com/office/drawing/2014/main" id="{AE09BBEF-A793-4197-943D-1D06DEEF53D3}"/>
              </a:ext>
            </a:extLst>
          </p:cNvPr>
          <p:cNvSpPr txBox="1">
            <a:spLocks/>
          </p:cNvSpPr>
          <p:nvPr/>
        </p:nvSpPr>
        <p:spPr>
          <a:xfrm>
            <a:off x="1430779" y="1424865"/>
            <a:ext cx="16981241" cy="2893098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marL="244928" marR="0" indent="-244928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742950" marR="0" indent="-28575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257300" marR="0" indent="-3429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752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098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6670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1242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5814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038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hangingPunct="1"/>
            <a:r>
              <a:rPr lang="es-CL" sz="4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Alcance</a:t>
            </a:r>
          </a:p>
          <a:p>
            <a:pPr marL="0" indent="0" hangingPunct="1">
              <a:buNone/>
            </a:pPr>
            <a:endParaRPr lang="es-ES" sz="4400" dirty="0"/>
          </a:p>
          <a:p>
            <a:pPr marL="0" indent="0" hangingPunct="1">
              <a:buNone/>
            </a:pPr>
            <a:r>
              <a:rPr lang="es-ES" sz="4400" dirty="0"/>
              <a:t>Aplicación funcional para </a:t>
            </a:r>
            <a:r>
              <a:rPr lang="es-ES" sz="4400" b="1" dirty="0"/>
              <a:t>Android</a:t>
            </a:r>
            <a:r>
              <a:rPr lang="es-ES" sz="4400" dirty="0"/>
              <a:t> , validación de enlaces, historial de escaneos y un módulo educativo</a:t>
            </a:r>
            <a:endParaRPr lang="es-CL" sz="4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2923264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C6CF1DD7-B899-7DDD-C9EE-D9BE8A8C50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9779" y="3656436"/>
            <a:ext cx="16981241" cy="5601531"/>
          </a:xfrm>
        </p:spPr>
        <p:txBody>
          <a:bodyPr/>
          <a:lstStyle/>
          <a:p>
            <a:r>
              <a:rPr lang="es-CL" sz="4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Procesos de negocio involucrados</a:t>
            </a:r>
          </a:p>
          <a:p>
            <a:pPr marL="0" indent="0">
              <a:buNone/>
            </a:pPr>
            <a:endParaRPr lang="es-CL" sz="4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s-ES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 proyecto impacta en el proceso de navegación segura y el uso confiable de QR en contextos personales, comerciales y educativos.</a:t>
            </a:r>
          </a:p>
          <a:p>
            <a:pPr marL="0" indent="0">
              <a:buNone/>
            </a:pPr>
            <a:endParaRPr lang="es-ES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s-ES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Alinea la arquitectura de seguridad, impacta los procesos de interacción con QR y puede integrarse con la arquitectura de información (base de datos de enlaces)</a:t>
            </a:r>
            <a:endParaRPr lang="es-CL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0954409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2A298CFD-30E5-E8D7-4E26-0BA8C1C88E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5865" y="1239808"/>
            <a:ext cx="16981241" cy="8309965"/>
          </a:xfrm>
        </p:spPr>
        <p:txBody>
          <a:bodyPr/>
          <a:lstStyle/>
          <a:p>
            <a:r>
              <a:rPr lang="es-CL" sz="4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Objetivos del proyecto</a:t>
            </a:r>
          </a:p>
          <a:p>
            <a:endParaRPr lang="es-CL" sz="4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s-CL" sz="4400" b="1" dirty="0"/>
              <a:t>Objetivo General:</a:t>
            </a:r>
          </a:p>
          <a:p>
            <a:pPr marL="0" indent="0">
              <a:buNone/>
            </a:pPr>
            <a:r>
              <a:rPr lang="es-ES" sz="4400" dirty="0"/>
              <a:t>Desarrollar una aplicación móvil que permita </a:t>
            </a:r>
            <a:r>
              <a:rPr lang="es-ES" sz="4400" b="1" dirty="0"/>
              <a:t>escanear códigos QR de forma segura</a:t>
            </a:r>
            <a:r>
              <a:rPr lang="es-ES" sz="4400" dirty="0"/>
              <a:t> y proteja al usuario de ataques de QR phishing</a:t>
            </a:r>
          </a:p>
          <a:p>
            <a:pPr marL="0" indent="0">
              <a:buNone/>
            </a:pPr>
            <a:endParaRPr lang="es-ES" sz="4400" dirty="0"/>
          </a:p>
          <a:p>
            <a:pPr marL="0" indent="0">
              <a:buNone/>
            </a:pPr>
            <a:r>
              <a:rPr lang="es-ES" sz="4400" b="1" dirty="0"/>
              <a:t>Objetivos </a:t>
            </a:r>
            <a:r>
              <a:rPr lang="es-ES" sz="4400" b="1" dirty="0" err="1"/>
              <a:t>Especificos</a:t>
            </a:r>
            <a:r>
              <a:rPr lang="es-ES" sz="4400" b="1" dirty="0"/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ES" sz="4400" dirty="0"/>
              <a:t>Mostrar la URL real antes de abrir un QR.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ES" sz="4400" dirty="0"/>
              <a:t>Incorporar un detector de enlaces inseguros.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ES" sz="4400" dirty="0"/>
              <a:t>Incluir funciones educativas.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ES" sz="4400" dirty="0"/>
              <a:t>Probar y validar la app en escenarios reales.</a:t>
            </a:r>
            <a:endParaRPr lang="es-CL" sz="4400" dirty="0"/>
          </a:p>
          <a:p>
            <a:pPr marL="0" indent="0">
              <a:buNone/>
            </a:pPr>
            <a:endParaRPr lang="es-CL" sz="4400" dirty="0"/>
          </a:p>
        </p:txBody>
      </p:sp>
    </p:spTree>
    <p:extLst>
      <p:ext uri="{BB962C8B-B14F-4D97-AF65-F5344CB8AC3E}">
        <p14:creationId xmlns:p14="http://schemas.microsoft.com/office/powerpoint/2010/main" val="357714090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7215275E-3B4A-81A3-F111-77863EAC29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45722" y="3380126"/>
            <a:ext cx="16981241" cy="7632857"/>
          </a:xfrm>
        </p:spPr>
        <p:txBody>
          <a:bodyPr/>
          <a:lstStyle/>
          <a:p>
            <a:r>
              <a:rPr lang="es-CL" sz="4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Metodología de desarrollo</a:t>
            </a:r>
          </a:p>
          <a:p>
            <a:endParaRPr lang="es-CL" sz="4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s-ES" sz="4400" dirty="0"/>
              <a:t>La </a:t>
            </a:r>
            <a:r>
              <a:rPr lang="es-ES" sz="4400" b="1" dirty="0"/>
              <a:t>gestión </a:t>
            </a:r>
            <a:r>
              <a:rPr lang="es-ES" sz="4400" dirty="0"/>
              <a:t>se realiza bajo los lineamientos del </a:t>
            </a:r>
            <a:r>
              <a:rPr lang="es-ES" sz="4400" b="1" dirty="0"/>
              <a:t>PMBOK (Project Management </a:t>
            </a:r>
            <a:r>
              <a:rPr lang="es-ES" sz="4400" b="1" dirty="0" err="1"/>
              <a:t>Body</a:t>
            </a:r>
            <a:r>
              <a:rPr lang="es-ES" sz="4400" b="1" dirty="0"/>
              <a:t> </a:t>
            </a:r>
            <a:r>
              <a:rPr lang="es-ES" sz="4400" b="1" dirty="0" err="1"/>
              <a:t>of</a:t>
            </a:r>
            <a:r>
              <a:rPr lang="es-ES" sz="4400" b="1" dirty="0"/>
              <a:t> </a:t>
            </a:r>
            <a:r>
              <a:rPr lang="es-ES" sz="4400" b="1" dirty="0" err="1"/>
              <a:t>Knowledge</a:t>
            </a:r>
            <a:r>
              <a:rPr lang="es-ES" sz="4400" b="1" dirty="0"/>
              <a:t>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ES" sz="4400" dirty="0"/>
              <a:t>Estructura en fases: </a:t>
            </a:r>
            <a:r>
              <a:rPr lang="es-ES" sz="4400" b="1" dirty="0"/>
              <a:t>Inicio, Planificación, Ejecución, Monitoreo y Control, y Cierre.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ES" sz="4400" dirty="0"/>
              <a:t>Lenguaje principal</a:t>
            </a:r>
            <a:r>
              <a:rPr lang="es-ES" sz="4400" b="1" dirty="0"/>
              <a:t>: </a:t>
            </a:r>
            <a:r>
              <a:rPr lang="es-ES" sz="4400" b="1" dirty="0" err="1"/>
              <a:t>Kotlin</a:t>
            </a:r>
            <a:r>
              <a:rPr lang="es-ES" sz="4400" b="1" dirty="0"/>
              <a:t> </a:t>
            </a:r>
            <a:r>
              <a:rPr lang="es-ES" sz="4400" dirty="0"/>
              <a:t>(elegido por concisión y soporte oficial de Google 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ES" sz="4400" dirty="0"/>
              <a:t>Librería de escaneo: </a:t>
            </a:r>
            <a:r>
              <a:rPr lang="es-ES" sz="4400" b="1" dirty="0" err="1"/>
              <a:t>ZXing</a:t>
            </a:r>
            <a:r>
              <a:rPr lang="es-ES" sz="4400" b="1" dirty="0"/>
              <a:t> (</a:t>
            </a:r>
            <a:r>
              <a:rPr lang="es-ES" sz="4400" b="1" dirty="0" err="1"/>
              <a:t>Zebra</a:t>
            </a:r>
            <a:r>
              <a:rPr lang="es-ES" sz="4400" b="1" dirty="0"/>
              <a:t> </a:t>
            </a:r>
            <a:r>
              <a:rPr lang="es-ES" sz="4400" b="1" dirty="0" err="1"/>
              <a:t>Crossing</a:t>
            </a:r>
            <a:r>
              <a:rPr lang="es-ES" sz="4400" b="1" dirty="0"/>
              <a:t>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ES" sz="4400" dirty="0"/>
              <a:t>Base de datos local: </a:t>
            </a:r>
            <a:r>
              <a:rPr lang="es-ES" sz="4400" b="1" dirty="0"/>
              <a:t>SQLite.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CL" sz="4400" dirty="0"/>
              <a:t>API de validación: </a:t>
            </a:r>
            <a:r>
              <a:rPr lang="es-CL" sz="4400" b="1" dirty="0"/>
              <a:t>Google </a:t>
            </a:r>
            <a:r>
              <a:rPr lang="es-CL" sz="4400" b="1" dirty="0" err="1"/>
              <a:t>Safe</a:t>
            </a:r>
            <a:r>
              <a:rPr lang="es-CL" sz="4400" b="1" dirty="0"/>
              <a:t> </a:t>
            </a:r>
            <a:r>
              <a:rPr lang="es-CL" sz="4400" b="1" dirty="0" err="1"/>
              <a:t>Browsing</a:t>
            </a:r>
            <a:r>
              <a:rPr lang="es-CL" sz="4400" b="1" dirty="0"/>
              <a:t> API</a:t>
            </a:r>
          </a:p>
        </p:txBody>
      </p:sp>
    </p:spTree>
    <p:extLst>
      <p:ext uri="{BB962C8B-B14F-4D97-AF65-F5344CB8AC3E}">
        <p14:creationId xmlns:p14="http://schemas.microsoft.com/office/powerpoint/2010/main" val="3105477492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9B8D7583-A45A-0D57-CA1E-485A526C2C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80407" y="2810739"/>
            <a:ext cx="16981241" cy="8094522"/>
          </a:xfrm>
        </p:spPr>
        <p:txBody>
          <a:bodyPr/>
          <a:lstStyle/>
          <a:p>
            <a:r>
              <a:rPr lang="es-CL" sz="4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Diseño de Arquitectura</a:t>
            </a:r>
          </a:p>
          <a:p>
            <a:endParaRPr lang="es-CL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s-ES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Arquitectura: Híbrida de tipo cliente-ligero.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ES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Capa de Presentación (Front-</a:t>
            </a:r>
            <a:r>
              <a:rPr lang="es-ES" sz="4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</a:t>
            </a:r>
            <a:r>
              <a:rPr lang="es-ES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): Aplicación nativa para Android  (muestra URL, alertas de riesgo con códigos de colores, historial, sección educativa) 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ES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Capa de Lógica de Negocio: Módulo de escaneo + Motor de validación que consulta </a:t>
            </a:r>
            <a:r>
              <a:rPr lang="es-ES" sz="4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APIs</a:t>
            </a:r>
            <a:r>
              <a:rPr lang="es-ES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externas (ej. Google </a:t>
            </a:r>
            <a:r>
              <a:rPr lang="es-ES" sz="4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Safe</a:t>
            </a:r>
            <a:r>
              <a:rPr lang="es-ES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ES" sz="4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Browsing</a:t>
            </a:r>
            <a:r>
              <a:rPr lang="es-ES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y bases de datos locales.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ES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Seguridad: Comunicación cifrada (HTTPS/TLS) con </a:t>
            </a:r>
            <a:r>
              <a:rPr lang="es-ES" sz="4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APIs</a:t>
            </a:r>
            <a:r>
              <a:rPr lang="es-ES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externas y uso de políticas de permisos mínimos.</a:t>
            </a:r>
            <a:endParaRPr lang="es-CL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57585963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FB5DF5E3-907F-40CF-D9D5-76018B0642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379" y="1272465"/>
            <a:ext cx="16981241" cy="11018399"/>
          </a:xfrm>
        </p:spPr>
        <p:txBody>
          <a:bodyPr/>
          <a:lstStyle/>
          <a:p>
            <a:r>
              <a:rPr lang="es-CL" sz="4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Diseño de Infraestructura</a:t>
            </a:r>
          </a:p>
          <a:p>
            <a:endParaRPr lang="es-CL" sz="4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s-MX" sz="4400" dirty="0"/>
              <a:t>Modelo de Operación: Arquitectura Cliente-Ligero.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MX" sz="4400" dirty="0"/>
              <a:t>Componente Cliente: Aplicación nativa para Android , desarrollada en </a:t>
            </a:r>
            <a:r>
              <a:rPr lang="es-MX" sz="4400" dirty="0" err="1"/>
              <a:t>Kotlin</a:t>
            </a:r>
            <a:r>
              <a:rPr lang="es-MX" sz="4400" dirty="0"/>
              <a:t>, instalada directamente en el dispositivo del usuario.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MX" sz="4400" dirty="0"/>
              <a:t>Componente de Red: Se requiere acceso a Internet para la función principal.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MX" sz="4400" dirty="0"/>
              <a:t>Servicios Críticos: Dependencia de </a:t>
            </a:r>
            <a:r>
              <a:rPr lang="es-MX" sz="4400" dirty="0" err="1"/>
              <a:t>APIs</a:t>
            </a:r>
            <a:r>
              <a:rPr lang="es-MX" sz="4400" dirty="0"/>
              <a:t> externas de alta disponibilidad (ej. Google </a:t>
            </a:r>
            <a:r>
              <a:rPr lang="es-MX" sz="4400" dirty="0" err="1"/>
              <a:t>Safe</a:t>
            </a:r>
            <a:r>
              <a:rPr lang="es-MX" sz="4400" dirty="0"/>
              <a:t> </a:t>
            </a:r>
            <a:r>
              <a:rPr lang="es-MX" sz="4400" dirty="0" err="1"/>
              <a:t>Browsing</a:t>
            </a:r>
            <a:r>
              <a:rPr lang="es-MX" sz="4400" dirty="0"/>
              <a:t> API ) para la validación de enlaces en tiempo real.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MX" sz="4400" dirty="0"/>
              <a:t>Seguridad de Red: Toda comunicación con </a:t>
            </a:r>
            <a:r>
              <a:rPr lang="es-MX" sz="4400" dirty="0" err="1"/>
              <a:t>APIs</a:t>
            </a:r>
            <a:r>
              <a:rPr lang="es-MX" sz="4400" dirty="0"/>
              <a:t> externas debe ser cifrada mediante HTTPS/TLS (1.2 o superior).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MX" sz="4400" dirty="0"/>
              <a:t>Almacenamiento: Local en el dispositivo usando SQLite para guardar el historial de escaneos.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MX" sz="4400" dirty="0"/>
              <a:t>Disponibilidad: Uso de </a:t>
            </a:r>
            <a:r>
              <a:rPr lang="es-MX" sz="4400" dirty="0" err="1"/>
              <a:t>APIs</a:t>
            </a:r>
            <a:r>
              <a:rPr lang="es-MX" sz="4400" dirty="0"/>
              <a:t> con alta disponibilidad y aplicación de caché local en caso de interrupción de la conexión.</a:t>
            </a:r>
            <a:endParaRPr lang="es-CL" sz="4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24820315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398D0DBA-8D94-2F2F-3019-48F69950D8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30778" y="7951489"/>
            <a:ext cx="16981241" cy="2893098"/>
          </a:xfrm>
        </p:spPr>
        <p:txBody>
          <a:bodyPr/>
          <a:lstStyle/>
          <a:p>
            <a:r>
              <a:rPr lang="es-CL" sz="4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Factibilidad </a:t>
            </a:r>
            <a:r>
              <a:rPr lang="es-CL" sz="4400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Implementativa</a:t>
            </a:r>
            <a:endParaRPr lang="es-CL" sz="4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s-E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Viable</a:t>
            </a:r>
            <a:r>
              <a:rPr lang="es-ES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El proyecto se ejecuta por un equipo de 2 integrantes y sigue una metodología estructurada (PMBOK) con un cronograma de 16 semanas.</a:t>
            </a:r>
            <a:endParaRPr lang="es-CL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Marcador de texto 1">
            <a:extLst>
              <a:ext uri="{FF2B5EF4-FFF2-40B4-BE49-F238E27FC236}">
                <a16:creationId xmlns:a16="http://schemas.microsoft.com/office/drawing/2014/main" id="{E16F9784-A3F4-24D7-2E4E-105138D2C330}"/>
              </a:ext>
            </a:extLst>
          </p:cNvPr>
          <p:cNvSpPr txBox="1">
            <a:spLocks/>
          </p:cNvSpPr>
          <p:nvPr/>
        </p:nvSpPr>
        <p:spPr>
          <a:xfrm>
            <a:off x="1430778" y="2871413"/>
            <a:ext cx="16981241" cy="2893098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marL="244928" marR="0" indent="-244928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742950" marR="0" indent="-28575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257300" marR="0" indent="-3429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752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098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6670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1242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5814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038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hangingPunct="1"/>
            <a:r>
              <a:rPr lang="es-CL" sz="4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Factibilidad Técnica</a:t>
            </a:r>
          </a:p>
          <a:p>
            <a:pPr marL="0" indent="0" hangingPunct="1">
              <a:buNone/>
            </a:pPr>
            <a:r>
              <a:rPr lang="es-E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Alta</a:t>
            </a:r>
            <a:r>
              <a:rPr lang="es-ES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Se basa en tecnologías probadas y gratuitas (Android Studio, </a:t>
            </a:r>
            <a:r>
              <a:rPr lang="es-ES" sz="4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Kotlin</a:t>
            </a:r>
            <a:r>
              <a:rPr lang="es-ES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s-ES" sz="4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ZXing</a:t>
            </a:r>
            <a:r>
              <a:rPr lang="es-ES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Google </a:t>
            </a:r>
            <a:r>
              <a:rPr lang="es-ES" sz="4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Safe</a:t>
            </a:r>
            <a:r>
              <a:rPr lang="es-ES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ES" sz="4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Browsing</a:t>
            </a:r>
            <a:r>
              <a:rPr lang="es-ES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API). La solución se enfoca en una arquitectura sencilla y escalable.</a:t>
            </a:r>
            <a:endParaRPr lang="es-CL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1294010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C388B3BF-3447-75E1-A82B-CAC924860A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1286" y="805586"/>
            <a:ext cx="22773114" cy="6955748"/>
          </a:xfrm>
        </p:spPr>
        <p:txBody>
          <a:bodyPr/>
          <a:lstStyle/>
          <a:p>
            <a:r>
              <a:rPr lang="es-CL" sz="4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Factibilidad </a:t>
            </a:r>
            <a:r>
              <a:rPr lang="es-CL" sz="4400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Economica</a:t>
            </a:r>
            <a:endParaRPr lang="es-CL" sz="4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s-MX" sz="4400" b="1" dirty="0"/>
          </a:p>
          <a:p>
            <a:pPr marL="0" indent="0">
              <a:buNone/>
            </a:pPr>
            <a:r>
              <a:rPr lang="es-MX" sz="4400" b="1" dirty="0"/>
              <a:t>Viable</a:t>
            </a:r>
            <a:r>
              <a:rPr lang="es-MX" sz="4400" dirty="0"/>
              <a:t>. El presupuesto estimado es de </a:t>
            </a:r>
            <a:r>
              <a:rPr lang="es-MX" sz="4400" b="1" dirty="0"/>
              <a:t>$500.000 CLP, desglosados en:</a:t>
            </a:r>
          </a:p>
          <a:p>
            <a:r>
              <a:rPr lang="es-MX" sz="4400" b="1" dirty="0"/>
              <a:t>$30.000 – Cuota de cuenta de desarrollador de Google Play</a:t>
            </a:r>
          </a:p>
          <a:p>
            <a:r>
              <a:rPr lang="es-MX" sz="4400" b="1" dirty="0"/>
              <a:t>$50.000 – Gastos de impresión, encuadernación de informes y materiales de presentación.</a:t>
            </a:r>
          </a:p>
          <a:p>
            <a:r>
              <a:rPr lang="es-MX" sz="4400" b="1" dirty="0"/>
              <a:t>$250.000 - Inversión mínima para compra de dispositivos económicos o accesorios para realizar pruebas de compatibilidad reales</a:t>
            </a:r>
          </a:p>
          <a:p>
            <a:r>
              <a:rPr lang="es-MX" sz="4400" b="1" dirty="0"/>
              <a:t>$170.000 – Margen de seguridad para eventualidades menores</a:t>
            </a:r>
            <a:endParaRPr lang="es-MX" sz="4400" dirty="0"/>
          </a:p>
          <a:p>
            <a:pPr marL="0" indent="0">
              <a:buNone/>
            </a:pPr>
            <a:r>
              <a:rPr lang="es-MX" sz="4400" dirty="0"/>
              <a:t> y las herramientas tecnológicas principales seleccionadas son </a:t>
            </a:r>
            <a:r>
              <a:rPr lang="es-MX" sz="4400" b="1" dirty="0"/>
              <a:t>gratuitas</a:t>
            </a:r>
            <a:r>
              <a:rPr lang="es-MX" sz="4400" dirty="0"/>
              <a:t> (Android Studio, </a:t>
            </a:r>
            <a:r>
              <a:rPr lang="es-MX" sz="4400" dirty="0" err="1"/>
              <a:t>Kotlin</a:t>
            </a:r>
            <a:r>
              <a:rPr lang="es-MX" sz="4400" dirty="0"/>
              <a:t>, </a:t>
            </a:r>
            <a:r>
              <a:rPr lang="es-MX" sz="4400" dirty="0" err="1"/>
              <a:t>ZXing</a:t>
            </a:r>
            <a:r>
              <a:rPr lang="es-MX" sz="4400" dirty="0"/>
              <a:t>, SQLite, Google </a:t>
            </a:r>
            <a:r>
              <a:rPr lang="es-MX" sz="4400" dirty="0" err="1"/>
              <a:t>Safe</a:t>
            </a:r>
            <a:r>
              <a:rPr lang="es-MX" sz="4400" dirty="0"/>
              <a:t> </a:t>
            </a:r>
            <a:r>
              <a:rPr lang="es-MX" sz="4400" dirty="0" err="1"/>
              <a:t>Browsing</a:t>
            </a:r>
            <a:r>
              <a:rPr lang="es-MX" sz="4400" dirty="0"/>
              <a:t> API).</a:t>
            </a:r>
            <a:endParaRPr lang="es-CL" sz="4400" dirty="0"/>
          </a:p>
        </p:txBody>
      </p:sp>
      <p:sp>
        <p:nvSpPr>
          <p:cNvPr id="3" name="Marcador de texto 1">
            <a:extLst>
              <a:ext uri="{FF2B5EF4-FFF2-40B4-BE49-F238E27FC236}">
                <a16:creationId xmlns:a16="http://schemas.microsoft.com/office/drawing/2014/main" id="{6DD7819D-D757-2DB8-5BAC-BAF3A1121C22}"/>
              </a:ext>
            </a:extLst>
          </p:cNvPr>
          <p:cNvSpPr txBox="1">
            <a:spLocks/>
          </p:cNvSpPr>
          <p:nvPr/>
        </p:nvSpPr>
        <p:spPr>
          <a:xfrm>
            <a:off x="1278377" y="8066134"/>
            <a:ext cx="22218932" cy="4247315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tIns="91439" bIns="91439">
            <a:spAutoFit/>
          </a:bodyPr>
          <a:lstStyle>
            <a:lvl1pPr marL="244928" marR="0" indent="-244928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742950" marR="0" indent="-28575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257300" marR="0" indent="-3429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752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098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6670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1242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5814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038600" marR="0" indent="-381000" algn="l" defTabSz="18288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000" b="0" i="0" u="none" strike="noStrike" cap="none" spc="-150" baseline="0">
                <a:ln>
                  <a:noFill/>
                </a:ln>
                <a:solidFill>
                  <a:srgbClr val="535353"/>
                </a:solidFill>
                <a:uFillTx/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hangingPunct="1"/>
            <a:r>
              <a:rPr lang="es-CL" sz="4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Factibilidad Legal</a:t>
            </a:r>
          </a:p>
          <a:p>
            <a:pPr hangingPunct="1"/>
            <a:endParaRPr lang="es-CL" sz="4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s-MX" sz="4400" dirty="0"/>
              <a:t>La aplicación no requiere ni almacena información personal del usuario.</a:t>
            </a:r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s-MX" sz="4400" dirty="0"/>
              <a:t>Se aplica el principio de </a:t>
            </a:r>
            <a:r>
              <a:rPr lang="es-MX" sz="4400" dirty="0" err="1"/>
              <a:t>Privacy</a:t>
            </a:r>
            <a:r>
              <a:rPr lang="es-MX" sz="4400" dirty="0"/>
              <a:t> </a:t>
            </a:r>
            <a:r>
              <a:rPr lang="es-MX" sz="4400" dirty="0" err="1"/>
              <a:t>by</a:t>
            </a:r>
            <a:r>
              <a:rPr lang="es-MX" sz="4400" dirty="0"/>
              <a:t> Default.</a:t>
            </a:r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s-MX" sz="4400" dirty="0"/>
              <a:t>Busca el cumplimiento con normativas como GDPR y la Ley de Protección de Datos chilena (Ley 19.628).</a:t>
            </a:r>
            <a:endParaRPr lang="es-CL" sz="4400" dirty="0"/>
          </a:p>
        </p:txBody>
      </p:sp>
    </p:spTree>
    <p:extLst>
      <p:ext uri="{BB962C8B-B14F-4D97-AF65-F5344CB8AC3E}">
        <p14:creationId xmlns:p14="http://schemas.microsoft.com/office/powerpoint/2010/main" val="714644557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D6594AFE-93AD-A4E8-94F0-8F7C12F3C8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379" y="1272465"/>
            <a:ext cx="16981241" cy="861772"/>
          </a:xfrm>
        </p:spPr>
        <p:txBody>
          <a:bodyPr/>
          <a:lstStyle/>
          <a:p>
            <a:r>
              <a:rPr lang="es-MX" sz="4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Vistas del prototipo</a:t>
            </a:r>
            <a:endParaRPr lang="es-CL" sz="4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EB102292-6589-26DF-CC21-1FF3A7C77EB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115550" y="2362200"/>
            <a:ext cx="4152900" cy="899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7" name="Imagen 6" descr="Interfaz de usuario gráfica, Texto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567ED397-4477-B97A-82FD-50379D7D61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0696" y="2767743"/>
            <a:ext cx="4299100" cy="9314716"/>
          </a:xfrm>
          <a:prstGeom prst="rect">
            <a:avLst/>
          </a:prstGeom>
        </p:spPr>
      </p:pic>
      <p:pic>
        <p:nvPicPr>
          <p:cNvPr id="9" name="Imagen 8" descr="Texto&#10;&#10;El contenido generado por IA puede ser incorrecto.">
            <a:extLst>
              <a:ext uri="{FF2B5EF4-FFF2-40B4-BE49-F238E27FC236}">
                <a16:creationId xmlns:a16="http://schemas.microsoft.com/office/drawing/2014/main" id="{AE79E351-4232-FB9E-4459-CED97409D2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042" y="2774317"/>
            <a:ext cx="4299100" cy="9308142"/>
          </a:xfrm>
          <a:prstGeom prst="rect">
            <a:avLst/>
          </a:prstGeom>
        </p:spPr>
      </p:pic>
      <p:pic>
        <p:nvPicPr>
          <p:cNvPr id="11" name="Imagen 10" descr="Interfaz de usuario gráfica, Texto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F2E6FD0A-CFD7-380B-F885-7F2D486A58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9350" y="2774317"/>
            <a:ext cx="4299100" cy="9308142"/>
          </a:xfrm>
          <a:prstGeom prst="rect">
            <a:avLst/>
          </a:prstGeom>
        </p:spPr>
      </p:pic>
      <p:pic>
        <p:nvPicPr>
          <p:cNvPr id="15" name="Imagen 14" descr="Interfaz de usuario gráfica, Texto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F64501D2-0132-EB20-8511-3379E463AB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5104" y="2780891"/>
            <a:ext cx="4299100" cy="9308142"/>
          </a:xfrm>
          <a:prstGeom prst="rect">
            <a:avLst/>
          </a:prstGeom>
        </p:spPr>
      </p:pic>
      <p:pic>
        <p:nvPicPr>
          <p:cNvPr id="18" name="Imagen 17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CBCE38AA-C76B-5A94-E342-DF4F873DE9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0858" y="2774317"/>
            <a:ext cx="4299100" cy="9308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12688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16FE7EEB-E388-0F7D-E4DC-F2C51EA41D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379" y="1272465"/>
            <a:ext cx="16981241" cy="861772"/>
          </a:xfrm>
        </p:spPr>
        <p:txBody>
          <a:bodyPr/>
          <a:lstStyle/>
          <a:p>
            <a:pPr marL="0" indent="0">
              <a:buNone/>
            </a:pPr>
            <a:r>
              <a:rPr lang="es-CL" sz="4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7DBCF44-2D1E-4D22-845B-0D91E01E7F05}"/>
              </a:ext>
            </a:extLst>
          </p:cNvPr>
          <p:cNvSpPr txBox="1"/>
          <p:nvPr/>
        </p:nvSpPr>
        <p:spPr>
          <a:xfrm>
            <a:off x="2141853" y="4395788"/>
            <a:ext cx="20100293" cy="4924423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t">
            <a:spAutoFit/>
          </a:bodyPr>
          <a:lstStyle/>
          <a:p>
            <a:pPr marL="571500" marR="0" indent="-571500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s-MX" sz="4400" b="0" i="0" u="none" strike="noStrike" cap="none" spc="-150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Open Sans Light"/>
              </a:rPr>
              <a:t>El proyecto es una solución tecnológica y educativa efectiva frente al </a:t>
            </a:r>
            <a:r>
              <a:rPr kumimoji="0" lang="es-MX" sz="4400" b="0" i="0" u="none" strike="noStrike" cap="none" spc="-150" normalizeH="0" baseline="0" dirty="0" err="1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Open Sans Light"/>
              </a:rPr>
              <a:t>Quishing</a:t>
            </a:r>
            <a:r>
              <a:rPr kumimoji="0" lang="es-MX" sz="4400" b="0" i="0" u="none" strike="noStrike" cap="none" spc="-150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Open Sans Light"/>
              </a:rPr>
              <a:t>.</a:t>
            </a:r>
          </a:p>
          <a:p>
            <a:pPr marL="571500" marR="0" indent="-571500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s-MX" sz="4400" b="0" i="0" u="none" strike="noStrike" cap="none" spc="-150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Open Sans Light"/>
              </a:rPr>
              <a:t>Es viable en presupuesto y cronograma.</a:t>
            </a:r>
          </a:p>
          <a:p>
            <a:pPr marL="571500" marR="0" indent="-571500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s-MX" sz="4400" b="0" i="0" u="none" strike="noStrike" cap="none" spc="-150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Open Sans Light"/>
              </a:rPr>
              <a:t>Tiene un alto impacto potencial en la seguridad digital y la confianza en el uso de QR.</a:t>
            </a:r>
          </a:p>
          <a:p>
            <a:pPr marL="571500" marR="0" indent="-571500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s-MX" sz="4400" b="0" i="0" u="none" strike="noStrike" cap="none" spc="-150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Open Sans Light"/>
              </a:rPr>
              <a:t>La arquitectura cliente-ligero y el modelo gratuito con visión ética facilitan la adopción masiva y la escalabilidad.</a:t>
            </a:r>
          </a:p>
          <a:p>
            <a:pPr marL="571500" marR="0" indent="-571500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s-MX" sz="4400" b="0" i="0" u="none" strike="noStrike" cap="none" spc="-150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Open Sans Light"/>
              </a:rPr>
              <a:t>Limitaciones: Dependencia de servicios externos y ausencia de modo offline.</a:t>
            </a:r>
            <a:endParaRPr kumimoji="0" lang="es-CL" sz="4400" b="0" i="0" u="none" strike="noStrike" cap="none" spc="-150" normalizeH="0" baseline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FillTx/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702851621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Tema de Office">
  <a:themeElements>
    <a:clrScheme name="Tema de Office">
      <a:dk1>
        <a:srgbClr val="535353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Tema de Office">
      <a:majorFont>
        <a:latin typeface="Open Sans"/>
        <a:ea typeface="Open Sans"/>
        <a:cs typeface="Open Sans"/>
      </a:majorFont>
      <a:minorFont>
        <a:latin typeface="Open Sans"/>
        <a:ea typeface="Open Sans"/>
        <a:cs typeface="Open Sans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Off val="-12941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63500" tIns="63500" rIns="63500" bIns="63500" numCol="1" spcCol="38100" rtlCol="0" anchor="ctr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1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Open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25400" cap="flat">
          <a:noFill/>
          <a:miter lim="400000"/>
        </a:ln>
        <a:effectLst/>
        <a:sp3d/>
      </a:spPr>
      <a:bodyPr rot="0" spcFirstLastPara="1" vertOverflow="overflow" horzOverflow="overflow" vert="horz" wrap="square" lIns="91439" tIns="91439" rIns="91439" bIns="91439" numCol="1" spcCol="38100" rtlCol="0" anchor="t">
        <a:spAutoFit/>
      </a:bodyPr>
      <a:lstStyle>
        <a:defPPr marL="0" marR="0" indent="0" algn="l" defTabSz="18288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-150" normalizeH="0" baseline="0">
            <a:ln>
              <a:noFill/>
            </a:ln>
            <a:solidFill>
              <a:srgbClr val="535353"/>
            </a:solidFill>
            <a:effectLst/>
            <a:uFillTx/>
            <a:latin typeface="Open Sans Light"/>
            <a:ea typeface="Open Sans Light"/>
            <a:cs typeface="Open Sans Light"/>
            <a:sym typeface="Open Sans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_Tema de Office">
  <a:themeElements>
    <a:clrScheme name="Tema de Office">
      <a:dk1>
        <a:srgbClr val="535353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Tema de Office">
      <a:majorFont>
        <a:latin typeface="Open Sans"/>
        <a:ea typeface="Open Sans"/>
        <a:cs typeface="Open Sans"/>
      </a:majorFont>
      <a:minorFont>
        <a:latin typeface="Open Sans"/>
        <a:ea typeface="Open Sans"/>
        <a:cs typeface="Open Sans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Off val="-12941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63500" tIns="63500" rIns="63500" bIns="63500" numCol="1" spcCol="38100" rtlCol="0" anchor="ctr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1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Open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25400" cap="flat">
          <a:noFill/>
          <a:miter lim="400000"/>
        </a:ln>
        <a:effectLst/>
        <a:sp3d/>
      </a:spPr>
      <a:bodyPr rot="0" spcFirstLastPara="1" vertOverflow="overflow" horzOverflow="overflow" vert="horz" wrap="square" lIns="91439" tIns="91439" rIns="91439" bIns="91439" numCol="1" spcCol="38100" rtlCol="0" anchor="t">
        <a:spAutoFit/>
      </a:bodyPr>
      <a:lstStyle>
        <a:defPPr marL="0" marR="0" indent="0" algn="l" defTabSz="18288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-150" normalizeH="0" baseline="0">
            <a:ln>
              <a:noFill/>
            </a:ln>
            <a:solidFill>
              <a:srgbClr val="535353"/>
            </a:solidFill>
            <a:effectLst/>
            <a:uFillTx/>
            <a:latin typeface="Open Sans Light"/>
            <a:ea typeface="Open Sans Light"/>
            <a:cs typeface="Open Sans Light"/>
            <a:sym typeface="Open Sans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Tema de Office">
  <a:themeElements>
    <a:clrScheme name="Tema de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Tema de Office">
      <a:majorFont>
        <a:latin typeface="Open Sans"/>
        <a:ea typeface="Open Sans"/>
        <a:cs typeface="Open Sans"/>
      </a:majorFont>
      <a:minorFont>
        <a:latin typeface="Open Sans"/>
        <a:ea typeface="Open Sans"/>
        <a:cs typeface="Open Sans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Off val="-12941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63500" tIns="63500" rIns="63500" bIns="63500" numCol="1" spcCol="38100" rtlCol="0" anchor="ctr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1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Open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25400" cap="flat">
          <a:noFill/>
          <a:miter lim="400000"/>
        </a:ln>
        <a:effectLst/>
        <a:sp3d/>
      </a:spPr>
      <a:bodyPr rot="0" spcFirstLastPara="1" vertOverflow="overflow" horzOverflow="overflow" vert="horz" wrap="square" lIns="91439" tIns="91439" rIns="91439" bIns="91439" numCol="1" spcCol="38100" rtlCol="0" anchor="t">
        <a:spAutoFit/>
      </a:bodyPr>
      <a:lstStyle>
        <a:defPPr marL="0" marR="0" indent="0" algn="l" defTabSz="18288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-150" normalizeH="0" baseline="0">
            <a:ln>
              <a:noFill/>
            </a:ln>
            <a:solidFill>
              <a:srgbClr val="535353"/>
            </a:solidFill>
            <a:effectLst/>
            <a:uFillTx/>
            <a:latin typeface="Open Sans Light"/>
            <a:ea typeface="Open Sans Light"/>
            <a:cs typeface="Open Sans Light"/>
            <a:sym typeface="Open Sans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BDD80B2DF3B4A48BEFAF9D653F7AB76" ma:contentTypeVersion="14" ma:contentTypeDescription="Crear nuevo documento." ma:contentTypeScope="" ma:versionID="dcd630353014c0794e9af5d3940c4355">
  <xsd:schema xmlns:xsd="http://www.w3.org/2001/XMLSchema" xmlns:xs="http://www.w3.org/2001/XMLSchema" xmlns:p="http://schemas.microsoft.com/office/2006/metadata/properties" xmlns:ns2="761aade0-c56a-4bfb-a3f4-7c00d91f8fba" xmlns:ns3="a4651164-0f15-4d13-a36d-0ab7743e2aa9" targetNamespace="http://schemas.microsoft.com/office/2006/metadata/properties" ma:root="true" ma:fieldsID="e1ade2dada4b80f15c88fdaed65ae374" ns2:_="" ns3:_="">
    <xsd:import namespace="761aade0-c56a-4bfb-a3f4-7c00d91f8fba"/>
    <xsd:import namespace="a4651164-0f15-4d13-a36d-0ab7743e2a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1aade0-c56a-4bfb-a3f4-7c00d91f8f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Etiquetas de imagen" ma:readOnly="false" ma:fieldId="{5cf76f15-5ced-4ddc-b409-7134ff3c332f}" ma:taxonomyMulti="true" ma:sspId="daa6bfef-be34-4cf6-a2a3-f19fab1f613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651164-0f15-4d13-a36d-0ab7743e2aa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533a76d4-bc2f-4f6e-81f1-bf3274ab5108}" ma:internalName="TaxCatchAll" ma:showField="CatchAllData" ma:web="a4651164-0f15-4d13-a36d-0ab7743e2a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4651164-0f15-4d13-a36d-0ab7743e2aa9" xsi:nil="true"/>
    <lcf76f155ced4ddcb4097134ff3c332f xmlns="761aade0-c56a-4bfb-a3f4-7c00d91f8fba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59EBE8E-6CFB-4DDB-B398-CE20A9044A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61aade0-c56a-4bfb-a3f4-7c00d91f8fba"/>
    <ds:schemaRef ds:uri="a4651164-0f15-4d13-a36d-0ab7743e2a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55A379D-26A7-4767-8B24-F1E49998E49D}">
  <ds:schemaRefs>
    <ds:schemaRef ds:uri="http://purl.org/dc/terms/"/>
    <ds:schemaRef ds:uri="http://purl.org/dc/elements/1.1/"/>
    <ds:schemaRef ds:uri="http://schemas.microsoft.com/office/2006/metadata/properties"/>
    <ds:schemaRef ds:uri="761aade0-c56a-4bfb-a3f4-7c00d91f8fba"/>
    <ds:schemaRef ds:uri="http://schemas.microsoft.com/office/2006/documentManagement/types"/>
    <ds:schemaRef ds:uri="http://purl.org/dc/dcmitype/"/>
    <ds:schemaRef ds:uri="http://www.w3.org/XML/1998/namespace"/>
    <ds:schemaRef ds:uri="a4651164-0f15-4d13-a36d-0ab7743e2aa9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6963A65E-E95D-4135-95C3-2FE0B86CC7E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9659</TotalTime>
  <Words>819</Words>
  <Application>Microsoft Office PowerPoint</Application>
  <PresentationFormat>Personalizado</PresentationFormat>
  <Paragraphs>84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13</vt:i4>
      </vt:variant>
    </vt:vector>
  </HeadingPairs>
  <TitlesOfParts>
    <vt:vector size="19" baseType="lpstr">
      <vt:lpstr>Arial</vt:lpstr>
      <vt:lpstr>Open Sans</vt:lpstr>
      <vt:lpstr>Open Sans Light</vt:lpstr>
      <vt:lpstr>Wingdings</vt:lpstr>
      <vt:lpstr>Tema de Office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Carmen González Chang</dc:creator>
  <cp:lastModifiedBy>RODE FRANCISCA PATRICIA PALMA CANALES</cp:lastModifiedBy>
  <cp:revision>263</cp:revision>
  <dcterms:modified xsi:type="dcterms:W3CDTF">2025-12-05T23:52:51Z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0x0101007BDD80B2DF3B4A48BEFAF9D653F7AB76</vt:lpwstr>
  </property>
  <property fmtid="{D5CDD505-2E9C-101B-9397-08002B2CF9AE}" pid="3" name="Order">
    <vt:r8>69366400</vt:r8>
  </property>
  <property fmtid="{D5CDD505-2E9C-101B-9397-08002B2CF9AE}" pid="4" name="Título">
    <vt:lpwstr>Presentación de PowerPoint</vt:lpwstr>
  </property>
  <property fmtid="{D5CDD505-2E9C-101B-9397-08002B2CF9AE}" pid="5" name="MediaServiceImageTags">
    <vt:lpwstr/>
  </property>
</Properties>
</file>